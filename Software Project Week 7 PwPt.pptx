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65af9051fefe5a2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h65af9051fefe5a2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65af9051fefe5a2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h65af9051fefe5a2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h65af9051fefe5a2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h65af9051fefe5a2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h65af9051fefe5a2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h65af9051fefe5a2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65af9051fefe5a26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h65af9051fefe5a26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h65af9051fefe5a26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h65af9051fefe5a26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65af9051fefe5a26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h65af9051fefe5a2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hyperlink" Target="https://scrumguides.org/scrum-guide.html?utm_source=chatgpt.com" TargetMode="External"/><Relationship Id="rId10" Type="http://schemas.openxmlformats.org/officeDocument/2006/relationships/hyperlink" Target="https://scrumguides.org/scrum-guide.html?utm_source=chatgpt.com" TargetMode="External"/><Relationship Id="rId13" Type="http://schemas.openxmlformats.org/officeDocument/2006/relationships/hyperlink" Target="https://doi.org/10.1007/s10664-024-10481-5?utm_source=chatgpt.com" TargetMode="External"/><Relationship Id="rId12" Type="http://schemas.openxmlformats.org/officeDocument/2006/relationships/hyperlink" Target="https://doi.org/10.1007/s10664-024-10481-5?utm_source=chatgpt.com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ora.dev/research/2024/dora-report/?utm_source=chatgpt.com" TargetMode="External"/><Relationship Id="rId4" Type="http://schemas.openxmlformats.org/officeDocument/2006/relationships/hyperlink" Target="https://dora.dev/research/2024/dora-report/?utm_source=chatgpt.com" TargetMode="External"/><Relationship Id="rId9" Type="http://schemas.openxmlformats.org/officeDocument/2006/relationships/hyperlink" Target="https://scrumguides.org/scrum-guide.html?utm_source=chatgpt.com" TargetMode="External"/><Relationship Id="rId14" Type="http://schemas.openxmlformats.org/officeDocument/2006/relationships/hyperlink" Target="https://doi.org/10.1007/s10664-024-10481-5?utm_source=chatgpt.com" TargetMode="External"/><Relationship Id="rId5" Type="http://schemas.openxmlformats.org/officeDocument/2006/relationships/hyperlink" Target="https://dora.dev/research/2024/dora-report/?utm_source=chatgpt.com" TargetMode="External"/><Relationship Id="rId6" Type="http://schemas.openxmlformats.org/officeDocument/2006/relationships/hyperlink" Target="https://doi.org/10.1007/s13198-023-01958-5?utm_source=chatgpt.com" TargetMode="External"/><Relationship Id="rId7" Type="http://schemas.openxmlformats.org/officeDocument/2006/relationships/hyperlink" Target="https://doi.org/10.1007/s13198-023-01958-5?utm_source=chatgpt.com" TargetMode="External"/><Relationship Id="rId8" Type="http://schemas.openxmlformats.org/officeDocument/2006/relationships/hyperlink" Target="https://doi.org/10.1007/s13198-023-01958-5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irl traveler with luggage going to plane (Provided by Getty Images)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" y="-632375"/>
            <a:ext cx="9302349" cy="62046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8" y="-13217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Transitioning From Waterfall to Agile: The SNHU Travel Project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253800" y="8079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ChadaTech</a:t>
            </a:r>
            <a:endParaRPr sz="1200">
              <a:solidFill>
                <a:srgbClr val="0D0D0D"/>
              </a:solidFill>
              <a:highlight>
                <a:srgbClr val="FCFCF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CS 250: Software Development Lifecycle</a:t>
            </a:r>
            <a:endParaRPr sz="1200">
              <a:solidFill>
                <a:srgbClr val="0D0D0D"/>
              </a:solidFill>
              <a:highlight>
                <a:srgbClr val="FCFCF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Daulton Montana</a:t>
            </a:r>
            <a:endParaRPr sz="1200">
              <a:solidFill>
                <a:srgbClr val="0D0D0D"/>
              </a:solidFill>
              <a:highlight>
                <a:srgbClr val="FCFCF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Instructor: Trevor Hodde</a:t>
            </a:r>
            <a:endParaRPr sz="1200">
              <a:solidFill>
                <a:srgbClr val="0D0D0D"/>
              </a:solidFill>
              <a:highlight>
                <a:srgbClr val="FCFCF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10/18/2026</a:t>
            </a:r>
            <a:endParaRPr sz="1200">
              <a:solidFill>
                <a:srgbClr val="0D0D0D"/>
              </a:solidFill>
              <a:highlight>
                <a:srgbClr val="FCFCF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rporate business team and manager in a meeting (Provided by Getty Images)"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9177" y="-49000"/>
            <a:ext cx="9239101" cy="6157901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Explaining Agile Roles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Product Owner: Prioritizes requirements and maximizes product value.</a:t>
            </a:r>
            <a:endParaRPr sz="1200">
              <a:solidFill>
                <a:srgbClr val="0D0D0D"/>
              </a:solidFill>
              <a:highlight>
                <a:srgbClr val="FCFCF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Scrum Master: Facilitates Scrum and helps remove impediments.</a:t>
            </a:r>
            <a:endParaRPr sz="1200">
              <a:solidFill>
                <a:srgbClr val="0D0D0D"/>
              </a:solidFill>
              <a:highlight>
                <a:srgbClr val="FCFCF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Developers: Design, build, test, and deliver product increments.</a:t>
            </a:r>
            <a:endParaRPr sz="1200">
              <a:solidFill>
                <a:srgbClr val="0D0D0D"/>
              </a:solidFill>
              <a:highlight>
                <a:srgbClr val="FCFCF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All three accountabilities work toward the product goal.</a:t>
            </a:r>
            <a:endParaRPr sz="1200">
              <a:solidFill>
                <a:srgbClr val="0D0D0D"/>
              </a:solidFill>
              <a:highlight>
                <a:srgbClr val="FCFCF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D5D5D"/>
              </a:solidFill>
              <a:highlight>
                <a:srgbClr val="FCFCFC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solidFill>
                  <a:srgbClr val="5D5D5D"/>
                </a:solidFill>
                <a:highlight>
                  <a:srgbClr val="FCFCFC"/>
                </a:highlight>
              </a:rPr>
              <a:t>Citation: Schwaber &amp; Sutherland (2020).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artup business team colleagues meeting Planning Strategy Analysis discussing new plan with calculator for  financial document (Provided by Getty Images)"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3627" y="-53450"/>
            <a:ext cx="9234652" cy="61549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Explaining Agile Phases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Gather and prioritize requirements.</a:t>
            </a:r>
            <a:endParaRPr sz="1200">
              <a:solidFill>
                <a:srgbClr val="0D0D0D"/>
              </a:solidFill>
              <a:highlight>
                <a:srgbClr val="FCFCF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Plan a sprint and establish a Sprint Goal.</a:t>
            </a:r>
            <a:endParaRPr sz="1200">
              <a:solidFill>
                <a:srgbClr val="0D0D0D"/>
              </a:solidFill>
              <a:highlight>
                <a:srgbClr val="FCFCF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Design, develop, and test selected features.</a:t>
            </a:r>
            <a:endParaRPr sz="1200">
              <a:solidFill>
                <a:srgbClr val="0D0D0D"/>
              </a:solidFill>
              <a:highlight>
                <a:srgbClr val="FCFCF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Review the increment and collect stakeholder feedback.</a:t>
            </a:r>
            <a:endParaRPr sz="1200">
              <a:solidFill>
                <a:srgbClr val="0D0D0D"/>
              </a:solidFill>
              <a:highlight>
                <a:srgbClr val="FCFCF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Retrospect and improve the next sprint.</a:t>
            </a:r>
            <a:endParaRPr sz="1200">
              <a:solidFill>
                <a:srgbClr val="0D0D0D"/>
              </a:solidFill>
              <a:highlight>
                <a:srgbClr val="FCFCF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solidFill>
                  <a:srgbClr val="5D5D5D"/>
                </a:solidFill>
                <a:highlight>
                  <a:srgbClr val="FCFCFC"/>
                </a:highlight>
              </a:rPr>
              <a:t>Citation: Schwaber &amp; Sutherland (2020).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lose up Business people meeting to discuss the situation on the market. Business Financial Concept (Provided by Getty Images)"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4802" y="-89075"/>
            <a:ext cx="9288100" cy="619055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What Waterfall Would Look Like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Requirements and scope are defined early.</a:t>
            </a:r>
            <a:endParaRPr sz="1200">
              <a:solidFill>
                <a:srgbClr val="0D0D0D"/>
              </a:solidFill>
              <a:highlight>
                <a:srgbClr val="FCFCF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Design precedes implementation.</a:t>
            </a:r>
            <a:endParaRPr sz="1200">
              <a:solidFill>
                <a:srgbClr val="0D0D0D"/>
              </a:solidFill>
              <a:highlight>
                <a:srgbClr val="FCFCF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Testing generally follows development phases.</a:t>
            </a:r>
            <a:endParaRPr sz="1200">
              <a:solidFill>
                <a:srgbClr val="0D0D0D"/>
              </a:solidFill>
              <a:highlight>
                <a:srgbClr val="FCFCF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Major changes may require revisiting earlier work.</a:t>
            </a:r>
            <a:endParaRPr sz="1200">
              <a:solidFill>
                <a:srgbClr val="0D0D0D"/>
              </a:solidFill>
              <a:highlight>
                <a:srgbClr val="FCFCF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SNHU Travel might discover usability issues late.</a:t>
            </a:r>
            <a:endParaRPr sz="1200">
              <a:solidFill>
                <a:srgbClr val="0D0D0D"/>
              </a:solidFill>
              <a:highlight>
                <a:srgbClr val="FCFCF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solidFill>
                  <a:srgbClr val="5D5D5D"/>
                </a:solidFill>
                <a:highlight>
                  <a:srgbClr val="FCFCFC"/>
                </a:highlight>
              </a:rPr>
              <a:t>Citation: Mishra &amp; Alzoubi (2023).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siness meeting, young business people consulting and discussion on modern office. (Provided by Getty Images)" id="82" name="Google Shape;82;p17"/>
          <p:cNvPicPr preferRelativeResize="0"/>
          <p:nvPr/>
        </p:nvPicPr>
        <p:blipFill rotWithShape="1">
          <a:blip r:embed="rId3">
            <a:alphaModFix/>
          </a:blip>
          <a:srcRect b="-800" l="-380" r="380" t="800"/>
          <a:stretch/>
        </p:blipFill>
        <p:spPr>
          <a:xfrm>
            <a:off x="-29877" y="-338475"/>
            <a:ext cx="9265423" cy="616187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Why Agile Fits SNHU Travel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Deliver a basic destination search first.</a:t>
            </a:r>
            <a:endParaRPr sz="1200">
              <a:solidFill>
                <a:srgbClr val="0D0D0D"/>
              </a:solidFill>
              <a:highlight>
                <a:srgbClr val="FCFCF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Gather feedback on usability and search results.</a:t>
            </a:r>
            <a:endParaRPr sz="1200">
              <a:solidFill>
                <a:srgbClr val="0D0D0D"/>
              </a:solidFill>
              <a:highlight>
                <a:srgbClr val="FCFCF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Prioritize booking and travel-package features.</a:t>
            </a:r>
            <a:endParaRPr sz="1200">
              <a:solidFill>
                <a:srgbClr val="0D0D0D"/>
              </a:solidFill>
              <a:highlight>
                <a:srgbClr val="FCFCF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Adjust the backlog when customer needs change.</a:t>
            </a:r>
            <a:endParaRPr sz="1200">
              <a:solidFill>
                <a:srgbClr val="0D0D0D"/>
              </a:solidFill>
              <a:highlight>
                <a:srgbClr val="FCFCF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Identify defects throughout development.</a:t>
            </a:r>
            <a:endParaRPr sz="1200">
              <a:solidFill>
                <a:srgbClr val="0D0D0D"/>
              </a:solidFill>
              <a:highlight>
                <a:srgbClr val="FCFCF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solidFill>
                  <a:srgbClr val="5D5D5D"/>
                </a:solidFill>
                <a:highlight>
                  <a:srgbClr val="FCFCFC"/>
                </a:highlight>
              </a:rPr>
              <a:t>Citation: DORA (2024).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d rendering statistics analysis software. (Provided by Getty Images)"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9497" y="-1398350"/>
            <a:ext cx="9438648" cy="7862476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Teamwork, Communication, and Tools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Use daily Scrum meetings to coordinate progress.</a:t>
            </a:r>
            <a:endParaRPr sz="1200">
              <a:solidFill>
                <a:srgbClr val="0D0D0D"/>
              </a:solidFill>
              <a:highlight>
                <a:srgbClr val="FCFCF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Track tasks and impediments on a shared board.</a:t>
            </a:r>
            <a:endParaRPr sz="1200">
              <a:solidFill>
                <a:srgbClr val="0D0D0D"/>
              </a:solidFill>
              <a:highlight>
                <a:srgbClr val="FCFCF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Document decisions and acceptance criteria.</a:t>
            </a:r>
            <a:endParaRPr sz="1200">
              <a:solidFill>
                <a:srgbClr val="0D0D0D"/>
              </a:solidFill>
              <a:highlight>
                <a:srgbClr val="FCFCF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Discuss urgent interruptions before changing priorities.</a:t>
            </a:r>
            <a:endParaRPr sz="1200">
              <a:solidFill>
                <a:srgbClr val="0D0D0D"/>
              </a:solidFill>
              <a:highlight>
                <a:srgbClr val="FCFCF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Use retrospectives to agree on measurable improvements.</a:t>
            </a:r>
            <a:endParaRPr sz="1200">
              <a:solidFill>
                <a:srgbClr val="0D0D0D"/>
              </a:solidFill>
              <a:highlight>
                <a:srgbClr val="FCFCF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solidFill>
                  <a:srgbClr val="5D5D5D"/>
                </a:solidFill>
                <a:highlight>
                  <a:srgbClr val="FCFCFC"/>
                </a:highlight>
              </a:rPr>
              <a:t>Citation: DORA (2024).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wo businessmen shake hands after Serij meets to agree to do business together and Ikkan applauds. (Provided by Getty Images)"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3924" y="-875025"/>
            <a:ext cx="9250473" cy="616547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Waterfall or Agile?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Agile advantages</a:t>
            </a:r>
            <a:endParaRPr sz="1200">
              <a:solidFill>
                <a:srgbClr val="0D0D0D"/>
              </a:solidFill>
              <a:highlight>
                <a:srgbClr val="FCFCF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Times New Roman"/>
              <a:buChar char="●"/>
            </a:pP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Flexible priorities and regular feedback.</a:t>
            </a:r>
            <a:endParaRPr sz="1200">
              <a:solidFill>
                <a:srgbClr val="0D0D0D"/>
              </a:solidFill>
              <a:highlight>
                <a:srgbClr val="FCFCF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Times New Roman"/>
              <a:buChar char="●"/>
            </a:pP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Earlier opportunities to test working features.</a:t>
            </a:r>
            <a:endParaRPr sz="1200">
              <a:solidFill>
                <a:srgbClr val="0D0D0D"/>
              </a:solidFill>
              <a:highlight>
                <a:srgbClr val="FCFCF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Times New Roman"/>
              <a:buChar char="●"/>
            </a:pP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Continuous team improvement.</a:t>
            </a:r>
            <a:endParaRPr sz="1200">
              <a:solidFill>
                <a:srgbClr val="0D0D0D"/>
              </a:solidFill>
              <a:highlight>
                <a:srgbClr val="FCFCF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Waterfall advantages</a:t>
            </a:r>
            <a:endParaRPr sz="1200">
              <a:solidFill>
                <a:srgbClr val="0D0D0D"/>
              </a:solidFill>
              <a:highlight>
                <a:srgbClr val="FCFCF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Times New Roman"/>
              <a:buChar char="●"/>
            </a:pP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Defined sequential phases.</a:t>
            </a:r>
            <a:endParaRPr sz="1200">
              <a:solidFill>
                <a:srgbClr val="0D0D0D"/>
              </a:solidFill>
              <a:highlight>
                <a:srgbClr val="FCFCF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Times New Roman"/>
              <a:buChar char="●"/>
            </a:pP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Useful when requirements are stable and documentation needs are extensive.</a:t>
            </a:r>
            <a:endParaRPr sz="1200">
              <a:solidFill>
                <a:srgbClr val="0D0D0D"/>
              </a:solidFill>
              <a:highlight>
                <a:srgbClr val="FCFCF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D0D0D"/>
              </a:solidFill>
              <a:highlight>
                <a:srgbClr val="FCFCF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D0D0D"/>
              </a:solidFill>
              <a:highlight>
                <a:srgbClr val="FCFCF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D0D0D"/>
              </a:solidFill>
              <a:highlight>
                <a:srgbClr val="FCFCF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Recommendation: Use Scrum for SNHU Travel because customer feedback and evolving requirements are important.</a:t>
            </a:r>
            <a:endParaRPr sz="1200">
              <a:solidFill>
                <a:srgbClr val="0D0D0D"/>
              </a:solidFill>
              <a:highlight>
                <a:srgbClr val="FCFCF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solidFill>
                  <a:srgbClr val="5D5D5D"/>
                </a:solidFill>
                <a:highlight>
                  <a:srgbClr val="FCFCFC"/>
                </a:highlight>
              </a:rPr>
              <a:t>Citation: Mishra &amp; Alzoubi (2023).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DORA. (2024). </a:t>
            </a:r>
            <a:r>
              <a:rPr i="1"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2024 Accelerate State of DevOps report</a:t>
            </a: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200" u="sng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https://dora.dev/research/2024/dora-report/</a:t>
            </a:r>
            <a:r>
              <a:rPr lang="en" sz="1200" u="sng">
                <a:solidFill>
                  <a:schemeClr val="hlink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 </a:t>
            </a:r>
            <a:endParaRPr sz="1200" u="sng">
              <a:solidFill>
                <a:schemeClr val="hlink"/>
              </a:solidFill>
              <a:highlight>
                <a:srgbClr val="FCFCF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Mishra, A., &amp; Alzoubi, Y. I. (2023). Structured software development versus agile software development: A comparative analysis. </a:t>
            </a:r>
            <a:r>
              <a:rPr i="1"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International Journal of System Assurance Engineering and Management, 14</a:t>
            </a: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1504–1522.</a:t>
            </a: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200" u="sng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https://doi.org/10.1007/s13198-023-01958-5</a:t>
            </a:r>
            <a:r>
              <a:rPr lang="en" sz="1200" u="sng">
                <a:solidFill>
                  <a:schemeClr val="hlink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8"/>
              </a:rPr>
              <a:t> </a:t>
            </a:r>
            <a:endParaRPr sz="1200" u="sng">
              <a:solidFill>
                <a:schemeClr val="hlink"/>
              </a:solidFill>
              <a:highlight>
                <a:srgbClr val="FCFCF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Schwaber, K., &amp; Sutherland, J. (2020). </a:t>
            </a:r>
            <a:r>
              <a:rPr i="1"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Scrum guide</a:t>
            </a: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200" u="sng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https://scrumguides.org/scrum-guide.html</a:t>
            </a:r>
            <a:r>
              <a:rPr lang="en" sz="1200" u="sng">
                <a:solidFill>
                  <a:schemeClr val="hlink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11"/>
              </a:rPr>
              <a:t> </a:t>
            </a:r>
            <a:endParaRPr sz="1200" u="sng">
              <a:solidFill>
                <a:schemeClr val="hlink"/>
              </a:solidFill>
              <a:highlight>
                <a:srgbClr val="FCFCF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Verwijs, C., &amp; Russo, D. (2024). Do Agile scaling approaches make a difference? An empirical comparison of team effectiveness across popular scaling approaches. </a:t>
            </a:r>
            <a:r>
              <a:rPr i="1"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Empirical Software Engineering, 29</a:t>
            </a: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Article 75.</a:t>
            </a:r>
            <a:r>
              <a:rPr lang="en" sz="1200">
                <a:solidFill>
                  <a:srgbClr val="0D0D0D"/>
                </a:solidFill>
                <a:highlight>
                  <a:srgbClr val="FCFCFC"/>
                </a:highlight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200" u="sng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https://doi.org/10.1007/s10664-024-10481-5</a:t>
            </a:r>
            <a:r>
              <a:rPr lang="en" sz="1200" u="sng">
                <a:solidFill>
                  <a:schemeClr val="hlink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14"/>
              </a:rPr>
              <a:t> </a:t>
            </a:r>
            <a:endParaRPr sz="1200" u="sng">
              <a:solidFill>
                <a:schemeClr val="hlink"/>
              </a:solidFill>
              <a:highlight>
                <a:srgbClr val="FCFCF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